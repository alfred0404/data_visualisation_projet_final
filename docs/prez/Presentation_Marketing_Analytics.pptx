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Application </a:t>
            </a:r>
            <a:r>
              <a:rPr dirty="0" err="1"/>
              <a:t>d'Aide</a:t>
            </a:r>
            <a:r>
              <a:rPr dirty="0"/>
              <a:t> à la </a:t>
            </a:r>
            <a:r>
              <a:rPr dirty="0" err="1"/>
              <a:t>Décision</a:t>
            </a:r>
            <a:r>
              <a:rPr dirty="0"/>
              <a:t>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Analyse de 525K transactions e-commerce</a:t>
            </a:r>
          </a:p>
          <a:p>
            <a:pPr algn="ctr">
              <a:defRPr sz="2400">
                <a:solidFill>
                  <a:srgbClr val="FFFFFF"/>
                </a:solidFill>
              </a:defRPr>
            </a:pPr>
            <a:r>
              <a:t>Python • Streamlit • Pandas • Plotly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8C8C8"/>
                </a:solidFill>
              </a:defRPr>
            </a:pPr>
            <a:r>
              <a:t>ECE Paris - Data Visualisation - 2024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77B4"/>
                </a:solidFill>
              </a:defRPr>
            </a:pPr>
            <a:r>
              <a:t>Architecture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 b="1">
                <a:solidFill>
                  <a:srgbClr val="1F77B4"/>
                </a:solidFill>
              </a:defRPr>
            </a:pPr>
            <a:r>
              <a:t>Stack Technique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Backend: Python + Pandas + NumPy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Frontend: Streamlit + Plotly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Structure: app.py (308 lignes)</a:t>
            </a:r>
          </a:p>
          <a:p>
            <a:pPr lvl="2">
              <a:defRPr sz="1600" b="0">
                <a:solidFill>
                  <a:srgbClr val="323232"/>
                </a:solidFill>
              </a:defRPr>
            </a:pPr>
            <a:r>
              <a:t>  + utils.py (1025 lignes)</a:t>
            </a:r>
          </a:p>
          <a:p>
            <a:pPr lvl="2">
              <a:defRPr sz="1600" b="0">
                <a:solidFill>
                  <a:srgbClr val="323232"/>
                </a:solidFill>
              </a:defRPr>
            </a:pPr>
            <a:r>
              <a:t>  + 5 pages spécialisées</a:t>
            </a:r>
          </a:p>
          <a:p>
            <a:pPr>
              <a:defRPr sz="1600" b="0">
                <a:solidFill>
                  <a:srgbClr val="323232"/>
                </a:solidFill>
              </a:defRPr>
            </a:pPr>
            <a:endParaRPr/>
          </a:p>
          <a:p>
            <a:pPr>
              <a:defRPr sz="2000" b="1">
                <a:solidFill>
                  <a:srgbClr val="1F77B4"/>
                </a:solidFill>
              </a:defRPr>
            </a:pPr>
            <a:r>
              <a:t>Pipeline de Données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1. Chargement CSV/Excel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2. Nettoyage (85% conservés)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3. Enrichissement automatique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6459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 b="1">
                <a:solidFill>
                  <a:srgbClr val="FF7F0E"/>
                </a:solidFill>
              </a:defRPr>
            </a:pPr>
            <a:r>
              <a:t>Dataset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Online Retail II (2009-2011)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525K transactions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5000+ clients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38 pays</a:t>
            </a:r>
          </a:p>
          <a:p>
            <a:pPr>
              <a:defRPr sz="1600" b="0">
                <a:solidFill>
                  <a:srgbClr val="323232"/>
                </a:solidFill>
              </a:defRPr>
            </a:pPr>
            <a:endParaRPr/>
          </a:p>
          <a:p>
            <a:pPr>
              <a:defRPr sz="2000" b="1">
                <a:solidFill>
                  <a:srgbClr val="FF7F0E"/>
                </a:solidFill>
              </a:defRPr>
            </a:pPr>
            <a:r>
              <a:t>Colonnes Calculées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TotalAmount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IsReturn, HasCustomerID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Year, Month, Quarter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TransactionType, Category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77B4"/>
                </a:solidFill>
              </a:defRPr>
            </a:pPr>
            <a:r>
              <a:t>Navigation &amp; Filtres Globaux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200" b="1">
                <a:solidFill>
                  <a:srgbClr val="1F77B4"/>
                </a:solidFill>
              </a:defRPr>
            </a:pPr>
            <a:r>
              <a:t>5 Pages Spécialisées</a:t>
            </a:r>
          </a:p>
          <a:p>
            <a:pPr lvl="1">
              <a:defRPr sz="1800" b="0">
                <a:solidFill>
                  <a:srgbClr val="323232"/>
                </a:solidFill>
              </a:defRPr>
            </a:pPr>
            <a:r>
              <a:t>1. Overview : KPIs globaux + graphiques</a:t>
            </a:r>
          </a:p>
          <a:p>
            <a:pPr lvl="1">
              <a:defRPr sz="1800" b="0">
                <a:solidFill>
                  <a:srgbClr val="323232"/>
                </a:solidFill>
              </a:defRPr>
            </a:pPr>
            <a:r>
              <a:t>2. Cohortes : Analyse de rétention</a:t>
            </a:r>
          </a:p>
          <a:p>
            <a:pPr lvl="1">
              <a:defRPr sz="1800" b="0">
                <a:solidFill>
                  <a:srgbClr val="323232"/>
                </a:solidFill>
              </a:defRPr>
            </a:pPr>
            <a:r>
              <a:t>3. Segments : Segmentation RFM</a:t>
            </a:r>
          </a:p>
          <a:p>
            <a:pPr lvl="1">
              <a:defRPr sz="1800" b="0">
                <a:solidFill>
                  <a:srgbClr val="323232"/>
                </a:solidFill>
              </a:defRPr>
            </a:pPr>
            <a:r>
              <a:t>4. Scenarios : Simulations marketing</a:t>
            </a:r>
          </a:p>
          <a:p>
            <a:pPr lvl="1">
              <a:defRPr sz="1800" b="0">
                <a:solidFill>
                  <a:srgbClr val="323232"/>
                </a:solidFill>
              </a:defRPr>
            </a:pPr>
            <a:r>
              <a:t>5. Export : Téléchargements CSV/Excel</a:t>
            </a:r>
          </a:p>
          <a:p>
            <a:pPr>
              <a:defRPr sz="1600" b="0">
                <a:solidFill>
                  <a:srgbClr val="323232"/>
                </a:solidFill>
              </a:defRPr>
            </a:pPr>
            <a:endParaRPr/>
          </a:p>
          <a:p>
            <a:pPr>
              <a:defRPr sz="2200" b="1">
                <a:solidFill>
                  <a:srgbClr val="FF7F0E"/>
                </a:solidFill>
              </a:defRPr>
            </a:pPr>
            <a:r>
              <a:t>Innovation : Filtres Globaux</a:t>
            </a:r>
          </a:p>
          <a:p>
            <a:pPr lvl="1">
              <a:defRPr sz="1800" b="0">
                <a:solidFill>
                  <a:srgbClr val="323232"/>
                </a:solidFill>
              </a:defRPr>
            </a:pPr>
            <a:r>
              <a:t>• Définition unique dans la sidebar</a:t>
            </a:r>
          </a:p>
          <a:p>
            <a:pPr lvl="1">
              <a:defRPr sz="1800" b="0">
                <a:solidFill>
                  <a:srgbClr val="323232"/>
                </a:solidFill>
              </a:defRPr>
            </a:pPr>
            <a:r>
              <a:t>• Application automatique sur TOUTES les pages</a:t>
            </a:r>
          </a:p>
          <a:p>
            <a:pPr lvl="1">
              <a:defRPr sz="1800" b="0">
                <a:solidFill>
                  <a:srgbClr val="323232"/>
                </a:solidFill>
              </a:defRPr>
            </a:pPr>
            <a:r>
              <a:t>• Fonction: utils.apply_global_filters()</a:t>
            </a:r>
          </a:p>
          <a:p>
            <a:pPr lvl="1">
              <a:defRPr sz="1800" b="0">
                <a:solidFill>
                  <a:srgbClr val="323232"/>
                </a:solidFill>
              </a:defRPr>
            </a:pPr>
            <a:r>
              <a:t>• Filtres: Période, Pays, Montant minimum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77B4"/>
                </a:solidFill>
              </a:defRPr>
            </a:pPr>
            <a:r>
              <a:t>Analyse de Cohortes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>
                <a:solidFill>
                  <a:srgbClr val="1F77B4"/>
                </a:solidFill>
              </a:defRPr>
            </a:pPr>
            <a:r>
              <a:rPr dirty="0"/>
              <a:t>Principe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Cohorte</a:t>
            </a:r>
            <a:r>
              <a:rPr dirty="0"/>
              <a:t> = Groupe de clients </a:t>
            </a:r>
            <a:r>
              <a:rPr dirty="0" err="1"/>
              <a:t>ayant</a:t>
            </a:r>
            <a:r>
              <a:rPr dirty="0"/>
              <a:t> </a:t>
            </a:r>
            <a:r>
              <a:rPr dirty="0" err="1"/>
              <a:t>effectué</a:t>
            </a:r>
            <a:r>
              <a:rPr dirty="0"/>
              <a:t> </a:t>
            </a:r>
            <a:r>
              <a:rPr dirty="0" err="1"/>
              <a:t>leur</a:t>
            </a:r>
            <a:endParaRPr dirty="0"/>
          </a:p>
          <a:p>
            <a:pPr lvl="2">
              <a:defRPr sz="1600" b="0">
                <a:solidFill>
                  <a:srgbClr val="323232"/>
                </a:solidFill>
              </a:defRPr>
            </a:pPr>
            <a:r>
              <a:rPr dirty="0"/>
              <a:t>  premier </a:t>
            </a:r>
            <a:r>
              <a:rPr dirty="0" err="1"/>
              <a:t>achat</a:t>
            </a:r>
            <a:r>
              <a:rPr dirty="0"/>
              <a:t> le </a:t>
            </a:r>
            <a:r>
              <a:rPr dirty="0" err="1"/>
              <a:t>même</a:t>
            </a:r>
            <a:r>
              <a:rPr dirty="0"/>
              <a:t> </a:t>
            </a:r>
            <a:r>
              <a:rPr dirty="0" err="1"/>
              <a:t>mois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Rétention</a:t>
            </a:r>
            <a:r>
              <a:rPr dirty="0"/>
              <a:t> = % de clients qui </a:t>
            </a:r>
            <a:r>
              <a:rPr dirty="0" err="1"/>
              <a:t>reviennent</a:t>
            </a:r>
            <a:r>
              <a:rPr dirty="0"/>
              <a:t> </a:t>
            </a:r>
            <a:r>
              <a:rPr dirty="0" err="1"/>
              <a:t>acheter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M1, M3, M6, M12 = </a:t>
            </a:r>
            <a:r>
              <a:rPr dirty="0" err="1"/>
              <a:t>Mois</a:t>
            </a:r>
            <a:r>
              <a:rPr dirty="0"/>
              <a:t> après première transaction</a:t>
            </a:r>
          </a:p>
          <a:p>
            <a:pPr>
              <a:defRPr sz="1600" b="0">
                <a:solidFill>
                  <a:srgbClr val="323232"/>
                </a:solidFill>
              </a:defRPr>
            </a:pPr>
            <a:endParaRPr dirty="0"/>
          </a:p>
          <a:p>
            <a:pPr>
              <a:defRPr sz="2000" b="1">
                <a:solidFill>
                  <a:srgbClr val="FF7F0E"/>
                </a:solidFill>
              </a:defRPr>
            </a:pPr>
            <a:r>
              <a:rPr dirty="0" err="1"/>
              <a:t>Implémentation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create_cohorts</a:t>
            </a:r>
            <a:r>
              <a:rPr dirty="0"/>
              <a:t>(</a:t>
            </a:r>
            <a:r>
              <a:rPr dirty="0" err="1"/>
              <a:t>df</a:t>
            </a:r>
            <a:r>
              <a:rPr dirty="0"/>
              <a:t>) : Identification des </a:t>
            </a:r>
            <a:r>
              <a:rPr dirty="0" err="1"/>
              <a:t>cohortes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calculate_retention_matrix</a:t>
            </a:r>
            <a:r>
              <a:rPr dirty="0"/>
              <a:t>() : </a:t>
            </a:r>
            <a:r>
              <a:rPr dirty="0" err="1"/>
              <a:t>Matrice</a:t>
            </a:r>
            <a:r>
              <a:rPr dirty="0"/>
              <a:t> de </a:t>
            </a:r>
            <a:r>
              <a:rPr dirty="0" err="1"/>
              <a:t>rétention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Visualisation</a:t>
            </a:r>
            <a:r>
              <a:rPr dirty="0"/>
              <a:t> : Heatmap (vert=bon, rouge=</a:t>
            </a:r>
            <a:r>
              <a:rPr dirty="0" err="1"/>
              <a:t>faible</a:t>
            </a:r>
            <a:r>
              <a:rPr dirty="0"/>
              <a:t>)</a:t>
            </a:r>
          </a:p>
          <a:p>
            <a:pPr>
              <a:defRPr sz="1600" b="0">
                <a:solidFill>
                  <a:srgbClr val="323232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7F0E"/>
                </a:solidFill>
              </a:defRPr>
            </a:pPr>
            <a:r>
              <a:rPr dirty="0"/>
              <a:t>Insight </a:t>
            </a:r>
            <a:r>
              <a:rPr dirty="0" err="1"/>
              <a:t>Clé</a:t>
            </a:r>
            <a:endParaRPr dirty="0"/>
          </a:p>
          <a:p>
            <a:pPr lvl="1">
              <a:defRPr sz="2000" b="0">
                <a:solidFill>
                  <a:srgbClr val="FF7F0E"/>
                </a:solidFill>
              </a:defRPr>
            </a:pPr>
            <a:r>
              <a:rPr dirty="0" err="1"/>
              <a:t>Rétention</a:t>
            </a:r>
            <a:r>
              <a:rPr dirty="0"/>
              <a:t> </a:t>
            </a:r>
            <a:r>
              <a:rPr dirty="0" err="1"/>
              <a:t>moyenne</a:t>
            </a:r>
            <a:r>
              <a:rPr dirty="0"/>
              <a:t> M12 = 25%</a:t>
            </a:r>
          </a:p>
          <a:p>
            <a:pPr lvl="1">
              <a:defRPr sz="1800" b="0">
                <a:solidFill>
                  <a:srgbClr val="323232"/>
                </a:solidFill>
              </a:defRPr>
            </a:pPr>
            <a:r>
              <a:rPr dirty="0"/>
              <a:t>Chute </a:t>
            </a:r>
            <a:r>
              <a:rPr dirty="0" err="1"/>
              <a:t>importante</a:t>
            </a:r>
            <a:r>
              <a:rPr dirty="0"/>
              <a:t> après M3 → Zone critique pour </a:t>
            </a:r>
            <a:r>
              <a:rPr dirty="0" err="1"/>
              <a:t>fidélisation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77B4"/>
                </a:solidFill>
              </a:defRPr>
            </a:pPr>
            <a:r>
              <a:t>Segmentation RFM &amp; CLV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 b="1">
                <a:solidFill>
                  <a:srgbClr val="1F77B4"/>
                </a:solidFill>
              </a:defRPr>
            </a:pPr>
            <a:r>
              <a:t>RFM = Recency • Frequency • Monetary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R (Récence) : Jours depuis dernier achat (score 1-5)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F (Fréquence) : Nombre total de transactions (score 1-5)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M (Montant) : CA total généré (score 1-5)</a:t>
            </a:r>
          </a:p>
          <a:p>
            <a:pPr>
              <a:defRPr sz="1600" b="0">
                <a:solidFill>
                  <a:srgbClr val="323232"/>
                </a:solidFill>
              </a:defRPr>
            </a:pPr>
            <a:endParaRPr/>
          </a:p>
          <a:p>
            <a:pPr>
              <a:defRPr sz="2000" b="1">
                <a:solidFill>
                  <a:srgbClr val="FF7F0E"/>
                </a:solidFill>
              </a:defRPr>
            </a:pPr>
            <a:r>
              <a:t>8 Segments Stratégiques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Champions (R=5, F=5, M=5) : 12% clients → 38% CA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Loyal Customers : Clients fidèles réguliers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At Risk : Bons clients devenus inactifs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Lost : Clients perdus à reconquérir</a:t>
            </a:r>
          </a:p>
          <a:p>
            <a:pPr>
              <a:defRPr sz="1600" b="0">
                <a:solidFill>
                  <a:srgbClr val="323232"/>
                </a:solidFill>
              </a:defRPr>
            </a:pPr>
            <a:endParaRPr/>
          </a:p>
          <a:p>
            <a:pPr>
              <a:defRPr sz="2000" b="1">
                <a:solidFill>
                  <a:srgbClr val="1F77B4"/>
                </a:solidFill>
              </a:defRPr>
            </a:pPr>
            <a:r>
              <a:t>CLV (Customer Lifetime Value)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Valeur totale générée durant toute la relation client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Deux méthodes : Empirique (historique) + Prédictive (formule)</a:t>
            </a:r>
          </a:p>
          <a:p>
            <a:pPr lvl="1">
              <a:defRPr sz="1600" b="0">
                <a:solidFill>
                  <a:srgbClr val="FF7F0E"/>
                </a:solidFill>
              </a:defRPr>
            </a:pPr>
            <a:r>
              <a:t>• Ratio Champions/Lost = 20x (2000£ vs 100£)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77B4"/>
                </a:solidFill>
              </a:defRPr>
            </a:pPr>
            <a:r>
              <a:t>Simulations de Scénarios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2000" b="1">
                <a:solidFill>
                  <a:srgbClr val="1F77B4"/>
                </a:solidFill>
              </a:defRPr>
            </a:pPr>
            <a:r>
              <a:rPr dirty="0" err="1"/>
              <a:t>Paramètres</a:t>
            </a:r>
            <a:r>
              <a:rPr dirty="0"/>
              <a:t> </a:t>
            </a:r>
            <a:r>
              <a:rPr dirty="0" err="1"/>
              <a:t>Ajustables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Rétention</a:t>
            </a:r>
            <a:r>
              <a:rPr dirty="0"/>
              <a:t> : +X% de clients qui </a:t>
            </a:r>
            <a:r>
              <a:rPr dirty="0" err="1"/>
              <a:t>reviennent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Panier </a:t>
            </a:r>
            <a:r>
              <a:rPr dirty="0" err="1"/>
              <a:t>Moyen</a:t>
            </a:r>
            <a:r>
              <a:rPr dirty="0"/>
              <a:t> (AOV) : +X% par </a:t>
            </a:r>
            <a:r>
              <a:rPr dirty="0" err="1"/>
              <a:t>commande</a:t>
            </a:r>
            <a:r>
              <a:rPr dirty="0"/>
              <a:t> (upselling)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Fréquence</a:t>
            </a:r>
            <a:r>
              <a:rPr dirty="0"/>
              <a:t> : +X% de </a:t>
            </a:r>
            <a:r>
              <a:rPr dirty="0" err="1"/>
              <a:t>commandes</a:t>
            </a:r>
            <a:r>
              <a:rPr dirty="0"/>
              <a:t> par an</a:t>
            </a:r>
          </a:p>
          <a:p>
            <a:pPr>
              <a:defRPr sz="1600" b="0">
                <a:solidFill>
                  <a:srgbClr val="323232"/>
                </a:solidFill>
              </a:defRPr>
            </a:pPr>
            <a:endParaRPr dirty="0"/>
          </a:p>
          <a:p>
            <a:pPr>
              <a:defRPr sz="2000" b="1">
                <a:solidFill>
                  <a:srgbClr val="FF7F0E"/>
                </a:solidFill>
              </a:defRPr>
            </a:pPr>
            <a:r>
              <a:rPr dirty="0"/>
              <a:t>3 </a:t>
            </a:r>
            <a:r>
              <a:rPr dirty="0" err="1"/>
              <a:t>Scénarios</a:t>
            </a:r>
            <a:r>
              <a:rPr dirty="0"/>
              <a:t> </a:t>
            </a:r>
            <a:r>
              <a:rPr dirty="0" err="1"/>
              <a:t>Prédéfinis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Conservateur</a:t>
            </a:r>
            <a:r>
              <a:rPr dirty="0"/>
              <a:t> : +2% retention, +3% AOV, +5% </a:t>
            </a:r>
            <a:r>
              <a:rPr dirty="0" err="1"/>
              <a:t>fréquence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Réaliste</a:t>
            </a:r>
            <a:r>
              <a:rPr dirty="0"/>
              <a:t> : +5% retention, +8% AOV, +10% </a:t>
            </a:r>
            <a:r>
              <a:rPr dirty="0" err="1"/>
              <a:t>fréquence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</a:t>
            </a:r>
            <a:r>
              <a:rPr dirty="0" err="1"/>
              <a:t>Optimiste</a:t>
            </a:r>
            <a:r>
              <a:rPr dirty="0"/>
              <a:t> : +10% retention, +15% AOV, +20% </a:t>
            </a:r>
            <a:r>
              <a:rPr dirty="0" err="1"/>
              <a:t>fréquence</a:t>
            </a:r>
            <a:endParaRPr dirty="0"/>
          </a:p>
          <a:p>
            <a:pPr>
              <a:defRPr sz="1600" b="0">
                <a:solidFill>
                  <a:srgbClr val="323232"/>
                </a:solidFill>
              </a:defRPr>
            </a:pPr>
            <a:endParaRPr dirty="0"/>
          </a:p>
          <a:p>
            <a:pPr>
              <a:defRPr sz="2000" b="1">
                <a:solidFill>
                  <a:srgbClr val="1F77B4"/>
                </a:solidFill>
              </a:defRPr>
            </a:pPr>
            <a:r>
              <a:rPr dirty="0" err="1"/>
              <a:t>Visualisations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Bar chart : Avant/Après </a:t>
            </a:r>
            <a:r>
              <a:rPr dirty="0" err="1"/>
              <a:t>comparaison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Line chart : </a:t>
            </a:r>
            <a:r>
              <a:rPr dirty="0" err="1"/>
              <a:t>Évolution</a:t>
            </a:r>
            <a:r>
              <a:rPr dirty="0"/>
              <a:t> </a:t>
            </a:r>
            <a:r>
              <a:rPr dirty="0" err="1"/>
              <a:t>mensuelle</a:t>
            </a:r>
            <a:r>
              <a:rPr dirty="0"/>
              <a:t> sur 1-3 </a:t>
            </a:r>
            <a:r>
              <a:rPr dirty="0" err="1"/>
              <a:t>ans</a:t>
            </a:r>
            <a:endParaRPr dirty="0"/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rPr dirty="0"/>
              <a:t>• Tornado chart : Impact de </a:t>
            </a:r>
            <a:r>
              <a:rPr dirty="0" err="1"/>
              <a:t>chaque</a:t>
            </a:r>
            <a:r>
              <a:rPr dirty="0"/>
              <a:t> levier</a:t>
            </a:r>
          </a:p>
          <a:p>
            <a:pPr>
              <a:defRPr sz="1600" b="0">
                <a:solidFill>
                  <a:srgbClr val="323232"/>
                </a:solidFill>
              </a:defRPr>
            </a:pPr>
            <a:endParaRPr dirty="0"/>
          </a:p>
          <a:p>
            <a:pPr>
              <a:defRPr sz="2200" b="1">
                <a:solidFill>
                  <a:srgbClr val="FF7F0E"/>
                </a:solidFill>
              </a:defRPr>
            </a:pPr>
            <a:r>
              <a:rPr dirty="0" err="1"/>
              <a:t>Résultat</a:t>
            </a:r>
            <a:r>
              <a:rPr dirty="0"/>
              <a:t> </a:t>
            </a:r>
            <a:r>
              <a:rPr dirty="0" err="1"/>
              <a:t>Majeur</a:t>
            </a:r>
            <a:endParaRPr dirty="0"/>
          </a:p>
          <a:p>
            <a:pPr lvl="1">
              <a:defRPr sz="2000" b="0">
                <a:solidFill>
                  <a:srgbClr val="FF7F0E"/>
                </a:solidFill>
              </a:defRPr>
            </a:pPr>
            <a:r>
              <a:rPr dirty="0"/>
              <a:t>+5% </a:t>
            </a:r>
            <a:r>
              <a:rPr dirty="0" err="1"/>
              <a:t>rétention</a:t>
            </a:r>
            <a:r>
              <a:rPr dirty="0"/>
              <a:t> = +300K£ sur 3 </a:t>
            </a:r>
            <a:r>
              <a:rPr dirty="0" err="1"/>
              <a:t>ans</a:t>
            </a:r>
            <a:r>
              <a:rPr dirty="0"/>
              <a:t> (ROI 3-5x)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F77B4"/>
                </a:solidFill>
              </a:defRPr>
            </a:pPr>
            <a:r>
              <a:t>Conclusion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2000" b="1">
                <a:solidFill>
                  <a:srgbClr val="1F77B4"/>
                </a:solidFill>
              </a:defRPr>
            </a:pPr>
            <a:r>
              <a:t>Réalisations Techniques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1334 lignes de code (app + utils + pages)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15+ fonctions métier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Architecture professionnelle avec cache Streamlit</a:t>
            </a:r>
          </a:p>
          <a:p>
            <a:pPr>
              <a:defRPr sz="1600" b="0">
                <a:solidFill>
                  <a:srgbClr val="323232"/>
                </a:solidFill>
              </a:defRPr>
            </a:pPr>
            <a:endParaRPr/>
          </a:p>
          <a:p>
            <a:pPr>
              <a:defRPr sz="2200" b="1">
                <a:solidFill>
                  <a:srgbClr val="FF7F0E"/>
                </a:solidFill>
              </a:defRPr>
            </a:pPr>
            <a:r>
              <a:t>Impact Business Concret</a:t>
            </a:r>
          </a:p>
          <a:p>
            <a:pPr lvl="1">
              <a:defRPr sz="1800" b="0">
                <a:solidFill>
                  <a:srgbClr val="FF7F0E"/>
                </a:solidFill>
              </a:defRPr>
            </a:pPr>
            <a:r>
              <a:t>✓ Identification : 12% Champions = 38% CA</a:t>
            </a:r>
          </a:p>
          <a:p>
            <a:pPr lvl="1">
              <a:defRPr sz="1800" b="0">
                <a:solidFill>
                  <a:srgbClr val="FF7F0E"/>
                </a:solidFill>
              </a:defRPr>
            </a:pPr>
            <a:r>
              <a:t>✓ Valorisation : CLV Champions 20x supérieure</a:t>
            </a:r>
          </a:p>
          <a:p>
            <a:pPr lvl="1">
              <a:defRPr sz="1800" b="0">
                <a:solidFill>
                  <a:srgbClr val="FF7F0E"/>
                </a:solidFill>
              </a:defRPr>
            </a:pPr>
            <a:r>
              <a:t>✓ Optimisation : +5% rétention = +300K£ (ROI 3-5x)</a:t>
            </a:r>
          </a:p>
          <a:p>
            <a:pPr lvl="1">
              <a:defRPr sz="1800" b="0">
                <a:solidFill>
                  <a:srgbClr val="FF7F0E"/>
                </a:solidFill>
              </a:defRPr>
            </a:pPr>
            <a:r>
              <a:t>✓ Décision : Simulation avant investissement</a:t>
            </a:r>
          </a:p>
          <a:p>
            <a:pPr>
              <a:defRPr sz="1600" b="0">
                <a:solidFill>
                  <a:srgbClr val="323232"/>
                </a:solidFill>
              </a:defRPr>
            </a:pPr>
            <a:endParaRPr/>
          </a:p>
          <a:p>
            <a:pPr>
              <a:defRPr sz="2000" b="1">
                <a:solidFill>
                  <a:srgbClr val="1F77B4"/>
                </a:solidFill>
              </a:defRPr>
            </a:pPr>
            <a:r>
              <a:t>Prochaines Étapes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ML pour prédiction de churn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Intégration CRM pour actions automatiques</a:t>
            </a:r>
          </a:p>
          <a:p>
            <a:pPr lvl="1">
              <a:defRPr sz="1600" b="0">
                <a:solidFill>
                  <a:srgbClr val="323232"/>
                </a:solidFill>
              </a:defRPr>
            </a:pPr>
            <a:r>
              <a:t>• A/B testing intégré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77B4"/>
                </a:solidFill>
              </a:defRPr>
            </a:pPr>
            <a:r>
              <a:t>Merci pour votre attention !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672</Words>
  <Application>Microsoft Macintosh PowerPoint</Application>
  <PresentationFormat>Affichage à l'écran (4:3)</PresentationFormat>
  <Paragraphs>113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Maxime DUTERTRE</cp:lastModifiedBy>
  <cp:revision>2</cp:revision>
  <dcterms:created xsi:type="dcterms:W3CDTF">2013-01-27T09:14:16Z</dcterms:created>
  <dcterms:modified xsi:type="dcterms:W3CDTF">2025-11-25T11:08:05Z</dcterms:modified>
  <cp:category/>
</cp:coreProperties>
</file>